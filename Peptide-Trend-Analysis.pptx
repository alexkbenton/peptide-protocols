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Peptides (Search Interest)</c:v>
                </c:pt>
              </c:strCache>
            </c:strRef>
          </c:tx>
          <c:spPr>
            <a:solidFill>
              <a:srgbClr val="47684B"/>
            </a:solidFill>
            <a:ln w="38100" cap="flat">
              <a:solidFill>
                <a:srgbClr val="476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684B"/>
              </a:solidFill>
              <a:ln w="9525" cap="flat">
                <a:solidFill>
                  <a:srgbClr val="476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2021 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2022 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2023 Q1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  <c:pt idx="12">
                    <c:v>2024 Q1</c:v>
                  </c:pt>
                  <c:pt idx="13">
                    <c:v>Q2</c:v>
                  </c:pt>
                  <c:pt idx="14">
                    <c:v>Q3</c:v>
                  </c:pt>
                  <c:pt idx="15">
                    <c:v>Q4</c:v>
                  </c:pt>
                  <c:pt idx="16">
                    <c:v>2025 Q1</c:v>
                  </c:pt>
                  <c:pt idx="17">
                    <c:v>Q2</c:v>
                  </c:pt>
                  <c:pt idx="18">
                    <c:v>Q3</c:v>
                  </c:pt>
                  <c:pt idx="19">
                    <c:v>Q4</c:v>
                  </c:pt>
                  <c:pt idx="20">
                    <c:v>2026 Q1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18</c:v>
                </c:pt>
                <c:pt idx="6">
                  <c:v>19</c:v>
                </c:pt>
                <c:pt idx="7">
                  <c:v>22</c:v>
                </c:pt>
                <c:pt idx="8">
                  <c:v>25</c:v>
                </c:pt>
                <c:pt idx="9">
                  <c:v>30</c:v>
                </c:pt>
                <c:pt idx="10">
                  <c:v>35</c:v>
                </c:pt>
                <c:pt idx="11">
                  <c:v>42</c:v>
                </c:pt>
                <c:pt idx="12">
                  <c:v>50</c:v>
                </c:pt>
                <c:pt idx="13">
                  <c:v>58</c:v>
                </c:pt>
                <c:pt idx="14">
                  <c:v>65</c:v>
                </c:pt>
                <c:pt idx="15">
                  <c:v>72</c:v>
                </c:pt>
                <c:pt idx="16">
                  <c:v>80</c:v>
                </c:pt>
                <c:pt idx="17">
                  <c:v>88</c:v>
                </c:pt>
                <c:pt idx="18">
                  <c:v>92</c:v>
                </c:pt>
                <c:pt idx="19">
                  <c:v>96</c:v>
                </c:pt>
                <c:pt idx="20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Peptides</c:v>
                </c:pt>
              </c:strCache>
            </c:strRef>
          </c:tx>
          <c:spPr>
            <a:solidFill>
              <a:srgbClr val="47684B"/>
            </a:solidFill>
            <a:ln w="31750" cap="flat">
              <a:solidFill>
                <a:srgbClr val="476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684B"/>
              </a:solidFill>
              <a:ln w="9525" cap="flat">
                <a:solidFill>
                  <a:srgbClr val="476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30</c:v>
                </c:pt>
                <c:pt idx="3">
                  <c:v>58</c:v>
                </c:pt>
                <c:pt idx="4">
                  <c:v>88</c:v>
                </c:pt>
                <c:pt idx="5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Ozempic</c:v>
                </c:pt>
              </c:strCache>
            </c:strRef>
          </c:tx>
          <c:spPr>
            <a:solidFill>
              <a:srgbClr val="E07A5F"/>
            </a:solidFill>
            <a:ln w="31750" cap="flat">
              <a:solidFill>
                <a:srgbClr val="E07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25</c:v>
                </c:pt>
                <c:pt idx="2">
                  <c:v>75</c:v>
                </c:pt>
                <c:pt idx="3">
                  <c:v>90</c:v>
                </c:pt>
                <c:pt idx="4">
                  <c:v>85</c:v>
                </c:pt>
                <c:pt idx="5">
                  <c:v>78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Pickleball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20</c:v>
                </c:pt>
                <c:pt idx="1">
                  <c:v>55</c:v>
                </c:pt>
                <c:pt idx="2">
                  <c:v>80</c:v>
                </c:pt>
                <c:pt idx="3">
                  <c:v>90</c:v>
                </c:pt>
                <c:pt idx="4">
                  <c:v>95</c:v>
                </c:pt>
                <c:pt idx="5">
                  <c:v>92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Stanley Tumbler</c:v>
                </c:pt>
              </c:strCache>
            </c:strRef>
          </c:tx>
          <c:spPr>
            <a:solidFill>
              <a:srgbClr val="D4A853"/>
            </a:solidFill>
            <a:ln w="31750" cap="flat">
              <a:solidFill>
                <a:srgbClr val="D4A8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53"/>
              </a:solidFill>
              <a:ln w="9525" cap="flat">
                <a:solidFill>
                  <a:srgbClr val="D4A8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85</c:v>
                </c:pt>
                <c:pt idx="3">
                  <c:v>100</c:v>
                </c:pt>
                <c:pt idx="4">
                  <c:v>55</c:v>
                </c:pt>
                <c:pt idx="5">
                  <c:v>35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ChatGPT / AI</c:v>
                </c:pt>
              </c:strCache>
            </c:strRef>
          </c:tx>
          <c:spPr>
            <a:solidFill>
              <a:srgbClr val="8B5CF6"/>
            </a:solidFill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15</c:v>
                </c:pt>
                <c:pt idx="2">
                  <c:v>100</c:v>
                </c:pt>
                <c:pt idx="3">
                  <c:v>90</c:v>
                </c:pt>
                <c:pt idx="4">
                  <c:v>95</c:v>
                </c:pt>
                <c:pt idx="5">
                  <c:v>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YoY Growth %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768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8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ChatGPT / AI</c:v>
                  </c:pt>
                  <c:pt idx="1">
                    <c:v>Peptides</c:v>
                  </c:pt>
                  <c:pt idx="2">
                    <c:v>Stanley Tumbler</c:v>
                  </c:pt>
                  <c:pt idx="3">
                    <c:v>Pickleball</c:v>
                  </c:pt>
                  <c:pt idx="4">
                    <c:v>Ozempic</c:v>
                  </c:pt>
                  <c:pt idx="5">
                    <c:v>CBD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721</c:v>
                </c:pt>
                <c:pt idx="1">
                  <c:v>550</c:v>
                </c:pt>
                <c:pt idx="2">
                  <c:v>440</c:v>
                </c:pt>
                <c:pt idx="3">
                  <c:v>550</c:v>
                </c:pt>
                <c:pt idx="4">
                  <c:v>300</c:v>
                </c:pt>
                <c:pt idx="5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Market Size ($B)</c:v>
                </c:pt>
              </c:strCache>
            </c:strRef>
          </c:tx>
          <c:spPr>
            <a:solidFill>
              <a:srgbClr val="476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Peptide
Therapeutics</c:v>
                  </c:pt>
                  <c:pt idx="1">
                    <c:v>AI / ChatGPT
Ecosystem</c:v>
                  </c:pt>
                  <c:pt idx="2">
                    <c:v>GLP-1 Drugs
(Ozempic etc.)</c:v>
                  </c:pt>
                  <c:pt idx="3">
                    <c:v>CBD
Products</c:v>
                  </c:pt>
                  <c:pt idx="4">
                    <c:v>Pickleball
Industry</c:v>
                  </c:pt>
                  <c:pt idx="5">
                    <c:v>Stanley /
Drinkware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102</c:v>
                </c:pt>
                <c:pt idx="1">
                  <c:v>196</c:v>
                </c:pt>
                <c:pt idx="2">
                  <c:v>50</c:v>
                </c:pt>
                <c:pt idx="3">
                  <c:v>16</c:v>
                </c:pt>
                <c:pt idx="4">
                  <c:v>3.5</c:v>
                </c:pt>
                <c:pt idx="5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Peptides Are the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Biggest Wave in Wellness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&amp; Market Velocity vs. Cultural Mega-Trends  |  2021–2026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708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972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Searches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70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9319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Since 2023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7083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$295B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7665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Peptide Surge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niche biohacker topic to mainstream wellness phenomenon in under 18 months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1732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1417320"/>
            <a:ext cx="64008" cy="73152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6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55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Weight-loss peptide searches since 2023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33172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2331720"/>
            <a:ext cx="64008" cy="7315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+1,016%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550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GHK-Cu YoY growth (skincare viral)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324612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3246120"/>
            <a:ext cx="64008" cy="7315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+512%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550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Retatrutide YoY (next-gen weight loss)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416052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4160520"/>
            <a:ext cx="64008" cy="73152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6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6M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5508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searches for weight-loss peptides alone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Cultural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 ranked against the biggest product trends of the past 5 years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Velocity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growth rate during breakout period — how fast did each trend accelerate?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371600"/>
            <a:ext cx="64008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/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6459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721% growth in AI search platforms (2023–2024). Only tech trend with steeper velocity than peptides.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286000"/>
            <a:ext cx="3017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286000"/>
            <a:ext cx="64008" cy="749808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2331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550% growth at retail (Vitamin Shoppe) + 3x in Google search since 2023. Still accelerating.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200400"/>
            <a:ext cx="3017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20040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Pickleball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3474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550% search growth over 5 years. 24.3M players. Maturing — growth rate slowing to ~23% YoY.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4114800"/>
            <a:ext cx="3017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4114800"/>
            <a:ext cx="64008" cy="7498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4160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Stanley Tumbler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89320" y="4389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$70M → $750M (2020–2023). Classic spike-and-fade. Already declining 2025+.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Trend Sits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 matters more than raw growth — peptides are entering their highest-value phase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36576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463040"/>
            <a:ext cx="1554480" cy="365760"/>
          </a:xfrm>
          <a:prstGeom prst="rect">
            <a:avLst/>
          </a:prstGeom>
          <a:solidFill>
            <a:srgbClr val="C7D9C9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463040"/>
            <a:ext cx="1554480" cy="36576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1463040"/>
            <a:ext cx="1554480" cy="365760"/>
          </a:xfrm>
          <a:prstGeom prst="rect">
            <a:avLst/>
          </a:prstGeom>
          <a:solidFill>
            <a:srgbClr val="5C8160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463040"/>
            <a:ext cx="155448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92808" y="2029968"/>
            <a:ext cx="1700784" cy="1014984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65960" y="210312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65960" y="2103120"/>
            <a:ext cx="1554480" cy="54864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17" name="Text 15"/>
          <p:cNvSpPr/>
          <p:nvPr/>
        </p:nvSpPr>
        <p:spPr>
          <a:xfrm>
            <a:off x="205740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6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growth, mainstream media just beginning. Strongest upside window.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49040" y="210312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10312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/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adoption. Still growing but discovery phase is over.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49040" y="315468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3154680"/>
            <a:ext cx="155448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Ozempic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saturated. Search interest plateauing as novelty fades.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210312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0680" y="210312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Pickleball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 players. Growth slowing from 86% to 23%.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40680" y="315468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40680" y="3154680"/>
            <a:ext cx="155448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hype 2019-2020. Market growing but search interest flat.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32320" y="210312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0" y="2103120"/>
            <a:ext cx="15544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Stanley Tumbler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fad curve. Revenue peaked 2023, declining rapidly.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51960"/>
            <a:ext cx="64008" cy="640080"/>
          </a:xfrm>
          <a:prstGeom prst="rect">
            <a:avLst/>
          </a:prstGeom>
          <a:solidFill>
            <a:srgbClr val="47684B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70832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9728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6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972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 are the only trend in the "Accelerating" phase with both clinical credibility (FDA-approved drugs) AND viral consumer demand. This is where CBD was in 2018 — but with stronger fundamentals.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 &amp; Trajectory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therapeutics is already a $100B+ market — and the consumer wellness layer is just emerging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371600"/>
            <a:ext cx="64008" cy="91440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6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 Therapeutics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$102B  →  $295B by 2033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 CAGR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256032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560320"/>
            <a:ext cx="64008" cy="914400"/>
          </a:xfrm>
          <a:prstGeom prst="rect">
            <a:avLst/>
          </a:prstGeom>
          <a:solidFill>
            <a:srgbClr val="5C8160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8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 Cosmetics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$2.9B  →  $8.3B by 2035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 CAGR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374904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749040"/>
            <a:ext cx="64008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3794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 Peptides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$9.4B  →  $36B by 2034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 CAGR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60720" y="4572000"/>
            <a:ext cx="3017520" cy="41148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18" name="Text 15"/>
          <p:cNvSpPr/>
          <p:nvPr/>
        </p:nvSpPr>
        <p:spPr>
          <a:xfrm>
            <a:off x="576072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America: 62% of global peptide market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2377440" cy="320040"/>
          </a:xfrm>
          <a:prstGeom prst="rect">
            <a:avLst/>
          </a:prstGeom>
          <a:solidFill>
            <a:srgbClr val="476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open. Peptides are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CBD was in 2018 — but with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science behind them.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926080"/>
            <a:ext cx="256032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Demand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10.1M monthly searches, 3x growth, mainstream media momentum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926080"/>
            <a:ext cx="256032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926080"/>
            <a:ext cx="256032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Backing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FDA-approved drugs (tirzepatide, semaglutide), Phase 3 trials expanding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256032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926080"/>
            <a:ext cx="256032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Depth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 therapeutics market today, $295B projected by 2033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Google Trends, Grand View Research, Precedence Research, The Peptide Effect, eMarketer, Glimpse, The Vitamin Shoppe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Peptide Trend Analysis: The Biggest Wave in Wellness</dc:title>
  <dc:subject>PptxGenJS Presentation</dc:subject>
  <dc:creator>Peptide Protocols</dc:creator>
  <cp:lastModifiedBy>Peptide Protocols</cp:lastModifiedBy>
  <cp:revision>1</cp:revision>
  <dcterms:created xsi:type="dcterms:W3CDTF">2026-04-16T01:36:32Z</dcterms:created>
  <dcterms:modified xsi:type="dcterms:W3CDTF">2026-04-16T01:36:32Z</dcterms:modified>
</cp:coreProperties>
</file>